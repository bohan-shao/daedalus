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9.xml" ContentType="application/vnd.openxmlformats-officedocument.presentationml.notes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0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5" Type="http://schemas.openxmlformats.org/officeDocument/2006/relationships/viewProps" Target="viewProps.xml" /><Relationship Id="rId7" Type="http://schemas.openxmlformats.org/officeDocument/2006/relationships/slide" Target="slides/slide7.xml" /><Relationship Id="rId14" Type="http://schemas.openxmlformats.org/officeDocument/2006/relationships/tableStyles" Target="tableStyles.xml" /><Relationship Id="rId9" Type="http://schemas.openxmlformats.org/officeDocument/2006/relationships/slide" Target="slides/slide9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3" Type="http://schemas.openxmlformats.org/officeDocument/2006/relationships/presProps" Target="presProps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2.png" /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3.png" /><Relationship Id="rId1" Type="http://schemas.openxmlformats.org/officeDocument/2006/relationships/notesSlide" Target="../notesSlides/notesSlide9.xml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notesSlide" Target="../notesSlides/notesSlide11.xml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ML Research Agent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 rot="0" flipH="0" flipV="0">
            <a:off x="731520" y="2194560"/>
            <a:ext cx="768095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Recommender Systems  ·  KuaiRand-Pure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primary  0.6120   vs   baseline  0.5946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+0.0174  (≈ 20× baseline std)  ·  50 iterations  ·  0 human interventions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Nuoyan Xu  ·  Bohan Shao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MLE iteration loop — repetitive &amp; mechanical</a:t>
            </a:r>
            <a:endParaRPr lang="en-US" sz="3000" dirty="0"/>
          </a:p>
        </p:txBody>
      </p:sp>
      <p:sp>
        <p:nvSpPr>
          <p:cNvPr id="35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Machine-learning engineers run this cycle over and over to push a score higher</a:t>
            </a:r>
            <a:endParaRPr lang="en-US" sz="1500" dirty="0"/>
          </a:p>
        </p:txBody>
      </p:sp>
      <p:sp>
        <p:nvSpPr>
          <p:cNvPr id="36" name="Shape 2"/>
          <p:cNvSpPr/>
          <p:nvPr/>
        </p:nvSpPr>
        <p:spPr>
          <a:xfrm>
            <a:off x="548640" y="20116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37" name="Text 3"/>
          <p:cNvSpPr/>
          <p:nvPr/>
        </p:nvSpPr>
        <p:spPr>
          <a:xfrm>
            <a:off x="548640" y="20116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problem</a:t>
            </a:r>
            <a:endParaRPr lang="en-US" sz="1300" dirty="0"/>
          </a:p>
        </p:txBody>
      </p:sp>
      <p:sp>
        <p:nvSpPr>
          <p:cNvPr id="38" name="Text 4"/>
          <p:cNvSpPr/>
          <p:nvPr/>
        </p:nvSpPr>
        <p:spPr>
          <a:xfrm>
            <a:off x="196596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9" name="Shape 5"/>
          <p:cNvSpPr/>
          <p:nvPr/>
        </p:nvSpPr>
        <p:spPr>
          <a:xfrm>
            <a:off x="2194560" y="20116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0" name="Text 6"/>
          <p:cNvSpPr/>
          <p:nvPr/>
        </p:nvSpPr>
        <p:spPr>
          <a:xfrm>
            <a:off x="2194560" y="20116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 data</a:t>
            </a:r>
            <a:endParaRPr lang="en-US" sz="1300" dirty="0"/>
          </a:p>
        </p:txBody>
      </p:sp>
      <p:sp>
        <p:nvSpPr>
          <p:cNvPr id="41" name="Text 7"/>
          <p:cNvSpPr/>
          <p:nvPr/>
        </p:nvSpPr>
        <p:spPr>
          <a:xfrm>
            <a:off x="361188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2" name="Shape 8"/>
          <p:cNvSpPr/>
          <p:nvPr/>
        </p:nvSpPr>
        <p:spPr>
          <a:xfrm>
            <a:off x="3840480" y="20116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3" name="Text 9"/>
          <p:cNvSpPr/>
          <p:nvPr/>
        </p:nvSpPr>
        <p:spPr>
          <a:xfrm>
            <a:off x="3840480" y="20116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features</a:t>
            </a:r>
            <a:endParaRPr lang="en-US" sz="1300" dirty="0"/>
          </a:p>
        </p:txBody>
      </p:sp>
      <p:sp>
        <p:nvSpPr>
          <p:cNvPr id="44" name="Text 10"/>
          <p:cNvSpPr/>
          <p:nvPr/>
        </p:nvSpPr>
        <p:spPr>
          <a:xfrm>
            <a:off x="525780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Shape 11"/>
          <p:cNvSpPr/>
          <p:nvPr/>
        </p:nvSpPr>
        <p:spPr>
          <a:xfrm>
            <a:off x="5486400" y="20116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6" name="Text 12"/>
          <p:cNvSpPr/>
          <p:nvPr/>
        </p:nvSpPr>
        <p:spPr>
          <a:xfrm>
            <a:off x="5486400" y="20116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+ tune</a:t>
            </a:r>
            <a:endParaRPr lang="en-US" sz="1300" dirty="0"/>
          </a:p>
        </p:txBody>
      </p:sp>
      <p:sp>
        <p:nvSpPr>
          <p:cNvPr id="47" name="Text 13"/>
          <p:cNvSpPr/>
          <p:nvPr/>
        </p:nvSpPr>
        <p:spPr>
          <a:xfrm>
            <a:off x="6903720" y="2194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8" name="Shape 14"/>
          <p:cNvSpPr/>
          <p:nvPr/>
        </p:nvSpPr>
        <p:spPr>
          <a:xfrm>
            <a:off x="7132320" y="201168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p/>
        </p:txBody>
      </p:sp>
      <p:sp>
        <p:nvSpPr>
          <p:cNvPr id="49" name="Text 15"/>
          <p:cNvSpPr/>
          <p:nvPr/>
        </p:nvSpPr>
        <p:spPr>
          <a:xfrm>
            <a:off x="7132320" y="20116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300" dirty="0"/>
          </a:p>
        </p:txBody>
      </p:sp>
      <p:sp>
        <p:nvSpPr>
          <p:cNvPr id="50" name="Shape 16"/>
          <p:cNvSpPr/>
          <p:nvPr/>
        </p:nvSpPr>
        <p:spPr>
          <a:xfrm>
            <a:off x="3108960" y="3383280"/>
            <a:ext cx="2926080" cy="82296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1" name="Text 17"/>
          <p:cNvSpPr/>
          <p:nvPr/>
        </p:nvSpPr>
        <p:spPr>
          <a:xfrm>
            <a:off x="3108960" y="338328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 + revise (feed the next round)</a:t>
            </a:r>
            <a:endParaRPr lang="en-US" sz="1400" dirty="0"/>
          </a:p>
        </p:txBody>
      </p:sp>
      <p:sp>
        <p:nvSpPr>
          <p:cNvPr id="52" name="Text 18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exactly the kind of structured, code-producing loop a code-generating LLM can automate</a:t>
            </a:r>
            <a:endParaRPr lang="en-US" sz="1400" dirty="0"/>
          </a:p>
        </p:txBody>
      </p:sp>
      <p:sp>
        <p:nvSpPr>
          <p:cNvPr id="53" name="Shape 19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4" name="Text 20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 — an agent that runs the loop on its own</a:t>
            </a:r>
            <a:endParaRPr lang="en-US" sz="3000" dirty="0"/>
          </a:p>
        </p:txBody>
      </p:sp>
      <p:sp>
        <p:nvSpPr>
          <p:cNvPr id="57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ML-Master, an MCTS-driven agent (SOTA on MLE-Bench)</a:t>
            </a:r>
            <a:endParaRPr lang="en-US" sz="1500" dirty="0"/>
          </a:p>
        </p:txBody>
      </p:sp>
      <p:sp>
        <p:nvSpPr>
          <p:cNvPr id="58" name="Shape 2"/>
          <p:cNvSpPr/>
          <p:nvPr/>
        </p:nvSpPr>
        <p:spPr>
          <a:xfrm>
            <a:off x="548640" y="182880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9" name="Text 3"/>
          <p:cNvSpPr/>
          <p:nvPr/>
        </p:nvSpPr>
        <p:spPr>
          <a:xfrm>
            <a:off x="731520" y="1938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writes code</a:t>
            </a:r>
            <a:endParaRPr lang="en-US" sz="1600" dirty="0"/>
          </a:p>
        </p:txBody>
      </p:sp>
      <p:sp>
        <p:nvSpPr>
          <p:cNvPr id="60" name="Text 4"/>
          <p:cNvSpPr/>
          <p:nvPr/>
        </p:nvSpPr>
        <p:spPr>
          <a:xfrm>
            <a:off x="731520" y="235915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v4-pro proposes a full training script each turn</a:t>
            </a:r>
            <a:endParaRPr lang="en-US" sz="1250" dirty="0"/>
          </a:p>
        </p:txBody>
      </p:sp>
      <p:sp>
        <p:nvSpPr>
          <p:cNvPr id="61" name="Shape 5"/>
          <p:cNvSpPr/>
          <p:nvPr/>
        </p:nvSpPr>
        <p:spPr>
          <a:xfrm>
            <a:off x="4663440" y="182880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2" name="Text 6"/>
          <p:cNvSpPr/>
          <p:nvPr/>
        </p:nvSpPr>
        <p:spPr>
          <a:xfrm>
            <a:off x="4846320" y="193852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executes</a:t>
            </a:r>
            <a:endParaRPr lang="en-US" sz="1600" dirty="0"/>
          </a:p>
        </p:txBody>
      </p:sp>
      <p:sp>
        <p:nvSpPr>
          <p:cNvPr id="63" name="Text 7"/>
          <p:cNvSpPr/>
          <p:nvPr/>
        </p:nvSpPr>
        <p:spPr>
          <a:xfrm>
            <a:off x="4846320" y="235915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it, captures the validation score (GAUC / nDCG@5)</a:t>
            </a:r>
            <a:endParaRPr lang="en-US" sz="1250" dirty="0"/>
          </a:p>
        </p:txBody>
      </p:sp>
      <p:sp>
        <p:nvSpPr>
          <p:cNvPr id="64" name="Shape 8"/>
          <p:cNvSpPr/>
          <p:nvPr/>
        </p:nvSpPr>
        <p:spPr>
          <a:xfrm>
            <a:off x="548640" y="33832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5" name="Text 9"/>
          <p:cNvSpPr/>
          <p:nvPr/>
        </p:nvSpPr>
        <p:spPr>
          <a:xfrm>
            <a:off x="731520" y="3493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reflects</a:t>
            </a:r>
            <a:endParaRPr lang="en-US" sz="1600" dirty="0"/>
          </a:p>
        </p:txBody>
      </p:sp>
      <p:sp>
        <p:nvSpPr>
          <p:cNvPr id="66" name="Text 10"/>
          <p:cNvSpPr/>
          <p:nvPr/>
        </p:nvSpPr>
        <p:spPr>
          <a:xfrm>
            <a:off x="731520" y="391363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LLM reads the log, judges bugs, extracts the metric</a:t>
            </a:r>
            <a:endParaRPr lang="en-US" sz="1250" dirty="0"/>
          </a:p>
        </p:txBody>
      </p:sp>
      <p:sp>
        <p:nvSpPr>
          <p:cNvPr id="67" name="Shape 11"/>
          <p:cNvSpPr/>
          <p:nvPr/>
        </p:nvSpPr>
        <p:spPr>
          <a:xfrm>
            <a:off x="4663440" y="338328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68" name="Text 12"/>
          <p:cNvSpPr/>
          <p:nvPr/>
        </p:nvSpPr>
        <p:spPr>
          <a:xfrm>
            <a:off x="4846320" y="3493008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MCTS decides</a:t>
            </a:r>
            <a:endParaRPr lang="en-US" sz="1600" dirty="0"/>
          </a:p>
        </p:txBody>
      </p:sp>
      <p:sp>
        <p:nvSpPr>
          <p:cNvPr id="69" name="Text 13"/>
          <p:cNvSpPr/>
          <p:nvPr/>
        </p:nvSpPr>
        <p:spPr>
          <a:xfrm>
            <a:off x="4846320" y="3913632"/>
            <a:ext cx="3474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search picks the next branch: draft / improve / debug</a:t>
            </a:r>
            <a:endParaRPr lang="en-US" sz="1250" dirty="0"/>
          </a:p>
        </p:txBody>
      </p:sp>
      <p:sp>
        <p:nvSpPr>
          <p:cNvPr id="70" name="Shape 14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71" name="Text 15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Adapting ML-Master to KuaiRand</a:t>
            </a:r>
            <a:endParaRPr lang="en-US" sz="3000" dirty="0"/>
          </a:p>
        </p:txBody>
      </p:sp>
      <p:sp>
        <p:nvSpPr>
          <p:cNvPr id="74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 of work</a:t>
            </a:r>
            <a:endParaRPr lang="en-US" sz="1500" dirty="0"/>
          </a:p>
        </p:txBody>
      </p:sp>
      <p:sp>
        <p:nvSpPr>
          <p:cNvPr id="75" name="Shape 2"/>
          <p:cNvSpPr/>
          <p:nvPr/>
        </p:nvSpPr>
        <p:spPr>
          <a:xfrm>
            <a:off x="640080" y="173736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6" name="Text 3"/>
          <p:cNvSpPr/>
          <p:nvPr/>
        </p:nvSpPr>
        <p:spPr>
          <a:xfrm>
            <a:off x="868680" y="18288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Set up the task</a:t>
            </a:r>
            <a:endParaRPr lang="en-US" sz="1500" dirty="0"/>
          </a:p>
        </p:txBody>
      </p:sp>
      <p:sp>
        <p:nvSpPr>
          <p:cNvPr id="77" name="Text 4"/>
          <p:cNvSpPr/>
          <p:nvPr/>
        </p:nvSpPr>
        <p:spPr>
          <a:xfrm>
            <a:off x="868680" y="216712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wrote date-based splits, GAUC/nDCG@5 evaluation, and submission format</a:t>
            </a:r>
            <a:endParaRPr lang="en-US" sz="1200" dirty="0"/>
          </a:p>
        </p:txBody>
      </p:sp>
      <p:sp>
        <p:nvSpPr>
          <p:cNvPr id="78" name="Shape 5"/>
          <p:cNvSpPr/>
          <p:nvPr/>
        </p:nvSpPr>
        <p:spPr>
          <a:xfrm>
            <a:off x="640080" y="278892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79" name="Text 6"/>
          <p:cNvSpPr/>
          <p:nvPr/>
        </p:nvSpPr>
        <p:spPr>
          <a:xfrm>
            <a:off x="868680" y="28803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Hints, not answers</a:t>
            </a:r>
            <a:endParaRPr lang="en-US" sz="1500" dirty="0"/>
          </a:p>
        </p:txBody>
      </p:sp>
      <p:sp>
        <p:nvSpPr>
          <p:cNvPr id="80" name="Text 7"/>
          <p:cNvSpPr/>
          <p:nvPr/>
        </p:nvSpPr>
        <p:spPr>
          <a:xfrm>
            <a:off x="868680" y="321868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gave the agent the organizer’s headroom directions + validated references (DIN, AutoInt), leaving every improvement to the agent</a:t>
            </a:r>
            <a:endParaRPr lang="en-US" sz="1200" dirty="0"/>
          </a:p>
        </p:txBody>
      </p:sp>
      <p:sp>
        <p:nvSpPr>
          <p:cNvPr id="81" name="Shape 8"/>
          <p:cNvSpPr/>
          <p:nvPr/>
        </p:nvSpPr>
        <p:spPr>
          <a:xfrm>
            <a:off x="640080" y="384048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82" name="Text 9"/>
          <p:cNvSpPr/>
          <p:nvPr/>
        </p:nvSpPr>
        <p:spPr>
          <a:xfrm>
            <a:off x="868680" y="39319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Independent validation</a:t>
            </a:r>
            <a:endParaRPr lang="en-US" sz="1500" dirty="0"/>
          </a:p>
        </p:txBody>
      </p:sp>
      <p:sp>
        <p:nvSpPr>
          <p:cNvPr id="83" name="Text 10"/>
          <p:cNvSpPr/>
          <p:nvPr/>
        </p:nvSpPr>
        <p:spPr>
          <a:xfrm>
            <a:off x="868680" y="4270248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hypothesis scored on the held-out validation split; final submission checked against the official submit.py harness</a:t>
            </a:r>
            <a:endParaRPr lang="en-US" sz="1200" dirty="0"/>
          </a:p>
        </p:txBody>
      </p:sp>
      <p:sp>
        <p:nvSpPr>
          <p:cNvPr id="84" name="Shape 11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5" name="Text 12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winning stack — discovered by the agent</a:t>
            </a:r>
            <a:endParaRPr lang="en-US" sz="3000" dirty="0"/>
          </a:p>
        </p:txBody>
      </p:sp>
      <p:sp>
        <p:nvSpPr>
          <p:cNvPr id="88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deep model: LightGBM LambdaRank + past-only historical features</a:t>
            </a:r>
            <a:endParaRPr lang="en-US" sz="1500" dirty="0"/>
          </a:p>
        </p:txBody>
      </p:sp>
      <p:pic>
        <p:nvPicPr>
          <p:cNvPr id="89" name="Image 0" descr="/Users/nick/Hack/kuairand-recommender-agent/video_assets/06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7315200" cy="2377440"/>
          </a:xfrm>
          <a:prstGeom prst="rect">
            <a:avLst/>
          </a:prstGeom>
        </p:spPr>
      </p:pic>
      <p:sp>
        <p:nvSpPr>
          <p:cNvPr id="90" name="Text 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started from AutoInt/DIN references and self-discovered this simpler, stronger recipe.</a:t>
            </a:r>
            <a:endParaRPr lang="en-US" sz="1300" dirty="0"/>
          </a:p>
        </p:txBody>
      </p:sp>
      <p:sp>
        <p:nvSpPr>
          <p:cNvPr id="91" name="Shape 3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2" name="Text 4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beating the official baseline</a:t>
            </a:r>
            <a:endParaRPr lang="en-US" sz="3000" dirty="0"/>
          </a:p>
        </p:txBody>
      </p:sp>
      <p:sp>
        <p:nvSpPr>
          <p:cNvPr id="95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Hidden-test: GAUC +0.0207 · nDCG@5 +0.0141 · primary +0.0174</a:t>
            </a:r>
            <a:endParaRPr lang="en-US" sz="1500" dirty="0"/>
          </a:p>
        </p:txBody>
      </p:sp>
      <p:pic>
        <p:nvPicPr>
          <p:cNvPr id="96" name="Image 0" descr="/Users/nick/Hack/kuairand-recommender-agent/video_assets/02_scor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7498080" cy="2926080"/>
          </a:xfrm>
          <a:prstGeom prst="rect">
            <a:avLst/>
          </a:prstGeom>
        </p:spPr>
      </p:pic>
      <p:sp>
        <p:nvSpPr>
          <p:cNvPr id="97" name="Shape 2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8" name="Text 3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autonomous — 0 human interventions</a:t>
            </a:r>
            <a:endParaRPr lang="en-US" sz="3000" dirty="0"/>
          </a:p>
        </p:txBody>
      </p:sp>
      <p:sp>
        <p:nvSpPr>
          <p:cNvPr id="101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proposed, implemented, evaluated, and revised all 50 iterations on its own</a:t>
            </a:r>
            <a:endParaRPr lang="en-US" sz="1500" dirty="0"/>
          </a:p>
        </p:txBody>
      </p:sp>
      <p:pic>
        <p:nvPicPr>
          <p:cNvPr id="102" name="Image 0" descr="/Users/nick/Hack/kuairand-recommender-agent/video_assets/03_iteration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7498080" cy="2926080"/>
          </a:xfrm>
          <a:prstGeom prst="rect">
            <a:avLst/>
          </a:prstGeom>
        </p:spPr>
      </p:pic>
      <p:sp>
        <p:nvSpPr>
          <p:cNvPr id="103" name="Shape 2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04" name="Text 3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label leakage</a:t>
            </a:r>
            <a:endParaRPr lang="en-US" sz="3000" dirty="0"/>
          </a:p>
        </p:txBody>
      </p:sp>
      <p:sp>
        <p:nvSpPr>
          <p:cNvPr id="107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once “scored” 0.84 by feeding is_click as a feature — we forbade it at the source</a:t>
            </a:r>
            <a:endParaRPr lang="en-US" sz="1500" dirty="0"/>
          </a:p>
        </p:txBody>
      </p:sp>
      <p:pic>
        <p:nvPicPr>
          <p:cNvPr id="108" name="Image 0" descr="/Users/nick/Hack/kuairand-recommender-agent/video_assets/04_leakage_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6949440" cy="2926080"/>
          </a:xfrm>
          <a:prstGeom prst="rect">
            <a:avLst/>
          </a:prstGeom>
        </p:spPr>
      </p:pic>
      <p:sp>
        <p:nvSpPr>
          <p:cNvPr id="109" name="Shape 2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0" name="Text 3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negative result worth keeping</a:t>
            </a:r>
            <a:endParaRPr lang="en-US" sz="3000" dirty="0"/>
          </a:p>
        </p:txBody>
      </p:sp>
      <p:sp>
        <p:nvSpPr>
          <p:cNvPr id="113" name="Text 1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Recency-decay was learned negative — long-term taste dominates long_view</a:t>
            </a:r>
            <a:endParaRPr lang="en-US" sz="1500" dirty="0"/>
          </a:p>
        </p:txBody>
      </p:sp>
      <p:pic>
        <p:nvPicPr>
          <p:cNvPr id="114" name="Image 0" descr="/Users/nick/Hack/kuairand-recommender-agent/video_assets/05_time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37360"/>
            <a:ext cx="6949440" cy="2926080"/>
          </a:xfrm>
          <a:prstGeom prst="rect">
            <a:avLst/>
          </a:prstGeom>
        </p:spPr>
      </p:pic>
      <p:sp>
        <p:nvSpPr>
          <p:cNvPr id="115" name="Shape 2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6" name="Text 3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/>
          <p:cNvSpPr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we hit</a:t>
            </a:r>
            <a:endParaRPr lang="en-US" sz="3000" dirty="0"/>
          </a:p>
        </p:txBody>
      </p:sp>
      <p:sp>
        <p:nvSpPr>
          <p:cNvPr id="10" name="Shape 1"/>
          <p:cNvSpPr/>
          <p:nvPr/>
        </p:nvSpPr>
        <p:spPr>
          <a:xfrm>
            <a:off x="640080" y="18288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1" name="Text 2"/>
          <p:cNvSpPr/>
          <p:nvPr/>
        </p:nvSpPr>
        <p:spPr>
          <a:xfrm>
            <a:off x="868680" y="190195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Reasoning-model LLM</a:t>
            </a:r>
            <a:endParaRPr lang="en-US" sz="1500" dirty="0"/>
          </a:p>
        </p:txBody>
      </p:sp>
      <p:sp>
        <p:nvSpPr>
          <p:cNvPr id="12" name="Text 3"/>
          <p:cNvSpPr/>
          <p:nvPr/>
        </p:nvSpPr>
        <p:spPr>
          <a:xfrm>
            <a:off x="2788920" y="190195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 “thinking” burned the token budget; disabling it cut latency 287s → 21s</a:t>
            </a:r>
            <a:endParaRPr lang="en-US" sz="1200" dirty="0"/>
          </a:p>
        </p:txBody>
      </p:sp>
      <p:sp>
        <p:nvSpPr>
          <p:cNvPr id="13" name="Shape 4"/>
          <p:cNvSpPr/>
          <p:nvPr/>
        </p:nvSpPr>
        <p:spPr>
          <a:xfrm>
            <a:off x="640080" y="278892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4" name="Text 5"/>
          <p:cNvSpPr/>
          <p:nvPr/>
        </p:nvSpPr>
        <p:spPr>
          <a:xfrm>
            <a:off x="868680" y="28620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leakage</a:t>
            </a:r>
            <a:endParaRPr lang="en-US" sz="1500" dirty="0"/>
          </a:p>
        </p:txBody>
      </p:sp>
      <p:sp>
        <p:nvSpPr>
          <p:cNvPr id="15" name="Text 6"/>
          <p:cNvSpPr/>
          <p:nvPr/>
        </p:nvSpPr>
        <p:spPr>
          <a:xfrm>
            <a:off x="2788920" y="286207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gamed the metric with is_click; fixed by a leakage rule in the task description</a:t>
            </a:r>
            <a:endParaRPr lang="en-US" sz="1200" dirty="0"/>
          </a:p>
        </p:txBody>
      </p:sp>
      <p:sp>
        <p:nvSpPr>
          <p:cNvPr id="16" name="Shape 7"/>
          <p:cNvSpPr/>
          <p:nvPr/>
        </p:nvSpPr>
        <p:spPr>
          <a:xfrm>
            <a:off x="640080" y="374904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7" name="Text 8"/>
          <p:cNvSpPr/>
          <p:nvPr/>
        </p:nvSpPr>
        <p:spPr>
          <a:xfrm>
            <a:off x="868680" y="382219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 vs. results</a:t>
            </a:r>
            <a:endParaRPr lang="en-US" sz="1500" dirty="0"/>
          </a:p>
        </p:txBody>
      </p:sp>
      <p:sp>
        <p:nvSpPr>
          <p:cNvPr id="18" name="Text 9"/>
          <p:cNvSpPr/>
          <p:nvPr/>
        </p:nvSpPr>
        <p:spPr>
          <a:xfrm>
            <a:off x="2788920" y="382219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much guidance kills the Autonomy score, too little wastes the 50-iteration budget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8458200" y="46177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0" name="Text 11"/>
          <p:cNvSpPr/>
          <p:nvPr/>
        </p:nvSpPr>
        <p:spPr>
          <a:xfrm>
            <a:off x="8458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23" name="Text 1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24" name="Text 2"/>
          <p:cNvSpPr/>
          <p:nvPr/>
        </p:nvSpPr>
        <p:spPr>
          <a:xfrm>
            <a:off x="640080" y="13716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600" dirty="0"/>
          </a:p>
        </p:txBody>
      </p:sp>
      <p:sp>
        <p:nvSpPr>
          <p:cNvPr id="25" name="Text 3"/>
          <p:cNvSpPr/>
          <p:nvPr/>
        </p:nvSpPr>
        <p:spPr>
          <a:xfrm>
            <a:off x="2468880" y="13716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primary 0.6120 vs baseline 0.5946  (+0.0174, ≈20× std)</a:t>
            </a:r>
            <a:endParaRPr lang="en-US" sz="1400" dirty="0"/>
          </a:p>
        </p:txBody>
      </p:sp>
      <p:sp>
        <p:nvSpPr>
          <p:cNvPr id="26" name="Text 4"/>
          <p:cNvSpPr/>
          <p:nvPr/>
        </p:nvSpPr>
        <p:spPr>
          <a:xfrm>
            <a:off x="64008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</a:t>
            </a:r>
            <a:endParaRPr lang="en-US" sz="1600" dirty="0"/>
          </a:p>
        </p:txBody>
      </p:sp>
      <p:sp>
        <p:nvSpPr>
          <p:cNvPr id="27" name="Text 5"/>
          <p:cNvSpPr/>
          <p:nvPr/>
        </p:nvSpPr>
        <p:spPr>
          <a:xfrm>
            <a:off x="2468880" y="214884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MCTS-driven agent → LightGBM LambdaRank + historical features</a:t>
            </a:r>
            <a:endParaRPr lang="en-US" sz="1400" dirty="0"/>
          </a:p>
        </p:txBody>
      </p:sp>
      <p:sp>
        <p:nvSpPr>
          <p:cNvPr id="28" name="Text 6"/>
          <p:cNvSpPr/>
          <p:nvPr/>
        </p:nvSpPr>
        <p:spPr>
          <a:xfrm>
            <a:off x="640080" y="2926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1600" dirty="0"/>
          </a:p>
        </p:txBody>
      </p:sp>
      <p:sp>
        <p:nvSpPr>
          <p:cNvPr id="29" name="Text 7"/>
          <p:cNvSpPr/>
          <p:nvPr/>
        </p:nvSpPr>
        <p:spPr>
          <a:xfrm>
            <a:off x="2468880" y="29260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iterations, 0 human interventions, 21 bugs self-recovered</a:t>
            </a:r>
            <a:endParaRPr lang="en-US" sz="1400" dirty="0"/>
          </a:p>
        </p:txBody>
      </p:sp>
      <p:sp>
        <p:nvSpPr>
          <p:cNvPr id="30" name="Text 8"/>
          <p:cNvSpPr/>
          <p:nvPr/>
        </p:nvSpPr>
        <p:spPr>
          <a:xfrm>
            <a:off x="640080" y="3703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600" dirty="0"/>
          </a:p>
        </p:txBody>
      </p:sp>
      <p:sp>
        <p:nvSpPr>
          <p:cNvPr id="31" name="Text 9"/>
          <p:cNvSpPr/>
          <p:nvPr/>
        </p:nvSpPr>
        <p:spPr>
          <a:xfrm>
            <a:off x="2468880" y="370332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Nuoyan Xu (agent &amp; adaptation)  ·  Bohan Shao (modeling &amp; baselines)</a:t>
            </a:r>
            <a:endParaRPr lang="en-US" sz="1400" dirty="0"/>
          </a:p>
        </p:txBody>
      </p:sp>
      <p:sp>
        <p:nvSpPr>
          <p:cNvPr id="32" name="Text 10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github.com/bohan-shao/Daedalus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thm15="http://schemas.microsoft.com/office/thememl/2012/main" xmlns:a="http://schemas.openxmlformats.org/drawingml/2006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2026-08-31T20:39:55Z</dcterms:created>
  <dcterms:modified xsi:type="dcterms:W3CDTF">2026-08-31T20:39:55Z</dcterms:modified>
</cp:coreProperties>
</file>